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media1.mp3" ContentType="audio/mpe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2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</p:sldIdLst>
  <p:sldSz cx="18288000" cy="10287000"/>
  <p:notesSz cx="6858000" cy="9144000"/>
  <p:embeddedFontLst>
    <p:embeddedFont>
      <p:font typeface="Nunito" pitchFamily="2" charset="77"/>
      <p:regular r:id="rId5"/>
      <p:bold r:id="rId6"/>
      <p:italic r:id="rId7"/>
      <p:boldItalic r:id="rId8"/>
    </p:embeddedFont>
    <p:embeddedFont>
      <p:font typeface="Nunito Bold" pitchFamily="2" charset="77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89"/>
    <p:restoredTop sz="94662"/>
  </p:normalViewPr>
  <p:slideViewPr>
    <p:cSldViewPr snapToGrid="0">
      <p:cViewPr varScale="1">
        <p:scale>
          <a:sx n="67" d="100"/>
          <a:sy n="67" d="100"/>
        </p:scale>
        <p:origin x="208" y="2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font" Target="fonts/font6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" Type="http://schemas.openxmlformats.org/officeDocument/2006/relationships/slide" Target="slides/slide1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E2E-E5BD-44A3-8350-57068DE7943E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DBB3F-3607-4C64-A7B5-024FBF8FF4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305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1.jpeg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sv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513229"/>
            <a:chOff x="0" y="0"/>
            <a:chExt cx="4816593" cy="27689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68916"/>
            </a:xfrm>
            <a:custGeom>
              <a:avLst/>
              <a:gdLst/>
              <a:ahLst/>
              <a:cxnLst/>
              <a:rect l="l" t="t" r="r" b="b"/>
              <a:pathLst>
                <a:path w="4816592" h="2768916">
                  <a:moveTo>
                    <a:pt x="0" y="0"/>
                  </a:moveTo>
                  <a:lnTo>
                    <a:pt x="4816592" y="0"/>
                  </a:lnTo>
                  <a:lnTo>
                    <a:pt x="4816592" y="2768916"/>
                  </a:lnTo>
                  <a:lnTo>
                    <a:pt x="0" y="2768916"/>
                  </a:lnTo>
                  <a:close/>
                </a:path>
              </a:pathLst>
            </a:custGeom>
            <a:gradFill rotWithShape="1">
              <a:gsLst>
                <a:gs pos="0">
                  <a:srgbClr val="EFF8FF">
                    <a:alpha val="100000"/>
                  </a:srgbClr>
                </a:gs>
                <a:gs pos="100000">
                  <a:srgbClr val="F0FFFB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816593" cy="2740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00950" y="3600450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EFF8FF">
                    <a:alpha val="100000"/>
                  </a:srgbClr>
                </a:gs>
                <a:gs pos="100000">
                  <a:srgbClr val="F0FFFB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19999" y="819863"/>
            <a:ext cx="11905091" cy="10704751"/>
            <a:chOff x="1167530" y="0"/>
            <a:chExt cx="16150592" cy="14522196"/>
          </a:xfrm>
        </p:grpSpPr>
        <p:sp>
          <p:nvSpPr>
            <p:cNvPr id="9" name="Freeform 9"/>
            <p:cNvSpPr/>
            <p:nvPr/>
          </p:nvSpPr>
          <p:spPr>
            <a:xfrm>
              <a:off x="1167530" y="0"/>
              <a:ext cx="16150592" cy="14522196"/>
            </a:xfrm>
            <a:custGeom>
              <a:avLst/>
              <a:gdLst/>
              <a:ahLst/>
              <a:cxnLst/>
              <a:rect l="l" t="t" r="r" b="b"/>
              <a:pathLst>
                <a:path w="17318124" h="14522196">
                  <a:moveTo>
                    <a:pt x="0" y="0"/>
                  </a:moveTo>
                  <a:lnTo>
                    <a:pt x="17318124" y="0"/>
                  </a:lnTo>
                  <a:lnTo>
                    <a:pt x="17318124" y="14522196"/>
                  </a:lnTo>
                  <a:lnTo>
                    <a:pt x="0" y="14522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9999"/>
              </a:blip>
              <a:stretch>
                <a:fillRect l="-10870" r="-108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0255" y="3171806"/>
            <a:ext cx="9956795" cy="4662457"/>
            <a:chOff x="0" y="-609322"/>
            <a:chExt cx="11933447" cy="55880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523924" cy="4978739"/>
            </a:xfrm>
            <a:custGeom>
              <a:avLst/>
              <a:gdLst/>
              <a:ahLst/>
              <a:cxnLst/>
              <a:rect l="l" t="t" r="r" b="b"/>
              <a:pathLst>
                <a:path w="11523924" h="4978739">
                  <a:moveTo>
                    <a:pt x="0" y="0"/>
                  </a:moveTo>
                  <a:lnTo>
                    <a:pt x="11523924" y="0"/>
                  </a:lnTo>
                  <a:lnTo>
                    <a:pt x="11523924" y="4978739"/>
                  </a:lnTo>
                  <a:lnTo>
                    <a:pt x="0" y="49787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09322"/>
              <a:ext cx="11933447" cy="54337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639"/>
                </a:lnSpc>
              </a:pPr>
              <a:r>
                <a:rPr lang="en-US" sz="6000" b="1" spc="923" dirty="0">
                  <a:solidFill>
                    <a:srgbClr val="0033C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CYBERSECURITY LAWS &amp; ETHICS</a:t>
              </a:r>
            </a:p>
            <a:p>
              <a:pPr algn="l">
                <a:lnSpc>
                  <a:spcPts val="10639"/>
                </a:lnSpc>
              </a:pPr>
              <a:endParaRPr lang="en-US" sz="6999" b="1" spc="923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741715" y="7675999"/>
            <a:ext cx="3795116" cy="296112"/>
          </a:xfrm>
          <a:custGeom>
            <a:avLst/>
            <a:gdLst/>
            <a:ahLst/>
            <a:cxnLst/>
            <a:rect l="l" t="t" r="r" b="b"/>
            <a:pathLst>
              <a:path w="4352328" h="265898">
                <a:moveTo>
                  <a:pt x="0" y="0"/>
                </a:moveTo>
                <a:lnTo>
                  <a:pt x="4352328" y="0"/>
                </a:lnTo>
                <a:lnTo>
                  <a:pt x="4352328" y="265898"/>
                </a:lnTo>
                <a:lnTo>
                  <a:pt x="0" y="2658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453" t="-36406" r="-3611" b="-320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 descr="A blue and black logo  Description automatically generated"/>
          <p:cNvSpPr/>
          <p:nvPr/>
        </p:nvSpPr>
        <p:spPr>
          <a:xfrm>
            <a:off x="741715" y="322368"/>
            <a:ext cx="2591283" cy="2167447"/>
          </a:xfrm>
          <a:custGeom>
            <a:avLst/>
            <a:gdLst/>
            <a:ahLst/>
            <a:cxnLst/>
            <a:rect l="l" t="t" r="r" b="b"/>
            <a:pathLst>
              <a:path w="2591283" h="2167447">
                <a:moveTo>
                  <a:pt x="0" y="0"/>
                </a:moveTo>
                <a:lnTo>
                  <a:pt x="2591282" y="0"/>
                </a:lnTo>
                <a:lnTo>
                  <a:pt x="2591282" y="2167447"/>
                </a:lnTo>
                <a:lnTo>
                  <a:pt x="0" y="2167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803" t="-13877" r="-3165" b="-164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128899" y="7081350"/>
            <a:ext cx="5044866" cy="782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75"/>
              </a:lnSpc>
              <a:spcBef>
                <a:spcPct val="0"/>
              </a:spcBef>
            </a:pPr>
            <a:r>
              <a:rPr lang="en-US" sz="5063" b="1" spc="506" dirty="0">
                <a:solidFill>
                  <a:srgbClr val="FF8200"/>
                </a:solidFill>
                <a:latin typeface="Nunito Bold"/>
                <a:ea typeface="Nunito Bold"/>
                <a:cs typeface="Nunito Bold"/>
                <a:sym typeface="Nunito Bold"/>
              </a:rPr>
              <a:t>MODULE 5 </a:t>
            </a: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90C51027-C5E3-8453-E3E7-F2DA6CEC5299}"/>
              </a:ext>
            </a:extLst>
          </p:cNvPr>
          <p:cNvSpPr/>
          <p:nvPr/>
        </p:nvSpPr>
        <p:spPr>
          <a:xfrm flipH="1">
            <a:off x="7696200" y="0"/>
            <a:ext cx="10591800" cy="10528338"/>
          </a:xfrm>
          <a:custGeom>
            <a:avLst/>
            <a:gdLst/>
            <a:ahLst/>
            <a:cxnLst/>
            <a:rect l="l" t="t" r="r" b="b"/>
            <a:pathLst>
              <a:path w="11548024" h="10497551">
                <a:moveTo>
                  <a:pt x="11548023" y="0"/>
                </a:moveTo>
                <a:lnTo>
                  <a:pt x="0" y="0"/>
                </a:lnTo>
                <a:lnTo>
                  <a:pt x="0" y="10497551"/>
                </a:lnTo>
                <a:lnTo>
                  <a:pt x="11548023" y="10497551"/>
                </a:lnTo>
                <a:lnTo>
                  <a:pt x="11548023" y="0"/>
                </a:lnTo>
                <a:close/>
              </a:path>
            </a:pathLst>
          </a:custGeom>
          <a:blipFill>
            <a:blip r:embed="rId8"/>
            <a:stretch>
              <a:fillRect l="-13827" t="-22868" r="-86862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0" name="Module 5_S1.mp3">
            <a:hlinkClick r:id="" action="ppaction://media"/>
            <a:extLst>
              <a:ext uri="{FF2B5EF4-FFF2-40B4-BE49-F238E27FC236}">
                <a16:creationId xmlns:a16="http://schemas.microsoft.com/office/drawing/2014/main" id="{C3787034-6714-30AC-BF28-0E7A675B1D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>
            <a:alphaModFix amt="0"/>
          </a:blip>
          <a:stretch>
            <a:fillRect/>
          </a:stretch>
        </p:blipFill>
        <p:spPr>
          <a:xfrm>
            <a:off x="1578800" y="819863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5640"/>
    </mc:Choice>
    <mc:Fallback xmlns="">
      <p:transition spd="slow" advClick="0" advTm="356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64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Introduction to Artificial Intelligence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Foundations, Technologies, and Applications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Module Duration: 105 Minutes</a:t>
            </a: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Introduction to Artificial Intelligence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3826" y="7671237"/>
            <a:ext cx="3034174" cy="26157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solidFill/>
                <a:latin typeface="Nunito" pitchFamily="2" charset="0"/>
              </a:rPr>
              <a:t>Definition of Artificial Intelligence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Types of AI: Narrow, General, Super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AI-Based vs Conventional Systems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Core AI Technologies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AI Frameworks and Hardware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AI as a Service (AIaaS)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Pre-trained Models &amp; Transfer Learning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Risks, Standards, and Regulations</a:t>
            </a: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What We Will Cover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4589" y="4166003"/>
            <a:ext cx="6043411" cy="61209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Systems that perform tasks requiring human intelligence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Learning and adaptation from data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Reasoning and decision-making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Perception and language understanding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Goal: Augment or automate human intelligence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What is Artificial Intelligence?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4331" y="3417850"/>
            <a:ext cx="5713669" cy="6869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Once AI becomes common, it is no longer called AI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Examples: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Optical Character Recognition (OCR)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Chess-playing programs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AI is a continuously evolving concept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Intelligence perception changes over time</a:t>
            </a: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The AI Effect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3826" y="7252826"/>
            <a:ext cx="3034174" cy="30341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solidFill/>
                <a:latin typeface="Nunito" pitchFamily="2" charset="0"/>
              </a:rPr>
              <a:t>Narrow AI (Weak AI)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Performs specific tasks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Examples: Chatbots, Face Recognition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General AI (AGI)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Human-level intelligence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Does not exist yet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Super AI (ASI)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Intelligence beyond humans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000" dirty="0">
                <a:latin typeface="Nunito" pitchFamily="2" charset="0"/>
              </a:rPr>
              <a:t>Theoretical concept</a:t>
            </a: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Types of Artificial Intelligence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3826" y="6770683"/>
            <a:ext cx="3034174" cy="35163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Traditional Systems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Rule-based programming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Deterministic behavior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AI-Based Systems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Data-driven learning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Probabilistic outcomes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Improve over time</a:t>
            </a: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AI-Based vs Traditional Systems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3826" y="7671237"/>
            <a:ext cx="3034174" cy="26157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Use Traditional Systems when: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Rules are fixed and predictable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Use AI Systems when: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Problems are complex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Patterns exist in data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Human-like perception is needed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Examples: Fraud detection, speech recognition</a:t>
            </a: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When to Use AI vs Conventional Systems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4589" y="4166003"/>
            <a:ext cx="6043411" cy="61209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Machine Learning (ML)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Deep Learning (DL)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Natural Language Processing (NLP)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Computer Vision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Reinforcement Learning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Robotics &amp; Automation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Expert Systems</a:t>
            </a: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Core AI Technologies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4331" y="3417850"/>
            <a:ext cx="5713669" cy="6869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TensorFlow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PyTorch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Keras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Scikit-Learn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Hugging Face Transformers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OpenVINO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ONNX Runtime</a:t>
            </a: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Popular AI Frameworks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3826" y="7252826"/>
            <a:ext cx="3034174" cy="30341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Faster development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Standardized workflows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Optimized performance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Hardware acceleration support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Reusable pre-built components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Why AI Frameworks Matter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3826" y="6770683"/>
            <a:ext cx="3034174" cy="35163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CPUs – General-purpose computing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GPUs – Parallel processing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TPUs – AI-optimized processors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Edge Devices (e.g., NVIDIA Jetson)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Cloud Infrastructure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Hardware for AI-Based Systems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3826" y="7671237"/>
            <a:ext cx="3034174" cy="26157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Parallel computation capability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Faster training of deep models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Efficient handling of matrix operations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Reduced training time and cost</a:t>
            </a: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Importance of GPUs in AI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4589" y="4166003"/>
            <a:ext cx="6043411" cy="61209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Cloud-based AI solutions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No need to build models from scratch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Ready-to-use AI APIs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Faster deployment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Cost-effective AI adoption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AI as a Service (AIaaS)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4331" y="3417850"/>
            <a:ext cx="5713669" cy="68691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Data ownership and privacy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Output ownership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Performance SLAs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Model update policies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Compliance and legal risks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AIaaS Contracts &amp; Considerations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3826" y="7252826"/>
            <a:ext cx="3034174" cy="30341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Google Cloud AI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Amazon AWS AI/ML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Microsoft Azure AI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IBM Watson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OpenAI APIs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Examples of AIaaS Platforms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3826" y="6770683"/>
            <a:ext cx="3034174" cy="35163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Models trained on large datasets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Ready for reuse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Save time and computational cost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Common in NLP, Vision, Speech</a:t>
            </a: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Pre-Trained Models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3826" y="7671237"/>
            <a:ext cx="3034174" cy="26157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Reusing pre-trained models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Fine-tuning for new tasks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Requires smaller datasets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Faster and more efficient AI development</a:t>
            </a: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Transfer Learning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4589" y="4166003"/>
            <a:ext cx="6043411" cy="61209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Bias in training data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Security vulnerabilities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Domain mismatch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Lack of transparency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Dependency on third-party providers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Risks of Pre-Trained Models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4331" y="3417850"/>
            <a:ext cx="5713669" cy="68691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Ensure safety and reliability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Promote fairness and transparency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Improve accountability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Support ethical AI usage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Enable risk management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Why AI Standards Matter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3826" y="7252826"/>
            <a:ext cx="3034174" cy="30341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EU AI Act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US NIST AI Framework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ISO/IEC AI Standards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GDPR and data privacy laws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Focus on trustworthy AI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AI Regulations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3826" y="6770683"/>
            <a:ext cx="3034174" cy="351631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FF8FF">
                <a:alpha val="100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10443" y="1769048"/>
            <a:ext cx="17576800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solidFill/>
                <a:latin typeface="Nunito" pitchFamily="2" charset="0"/>
              </a:rPr>
              <a:t>AI is transforming all industries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Understanding AI foundations is essential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AI = Data + Algorithms + Hardware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Responsible and ethical usage is critical</a:t>
            </a:r>
          </a:p>
          <a:p>
            <a:pPr marL="571500" indent="-571500">
              <a:lnSpc>
                <a:spcPct val="200000"/>
              </a:lnSpc>
              <a:buFont typeface="Wingdings" pitchFamily="2" charset="2"/>
              <a:buChar char="v"/>
            </a:pPr>
            <a:r>
              <a:rPr lang="en-AU" sz="3600" dirty="0">
                <a:latin typeface="Nunito" pitchFamily="2" charset="0"/>
              </a:rPr>
              <a:t>Next modules will explore AI in depth</a:t>
            </a:r>
            <a:endParaRPr lang="en-US" sz="4200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3" name="Freeform 3" descr="A blue and black logo  Description automatically generated"/>
          <p:cNvSpPr/>
          <p:nvPr/>
        </p:nvSpPr>
        <p:spPr>
          <a:xfrm>
            <a:off x="15963204" y="0"/>
            <a:ext cx="2050476" cy="1549600"/>
          </a:xfrm>
          <a:custGeom>
            <a:avLst/>
            <a:gdLst/>
            <a:ahLst/>
            <a:cxnLst/>
            <a:rect l="l" t="t" r="r" b="b"/>
            <a:pathLst>
              <a:path w="2050476" h="1549600">
                <a:moveTo>
                  <a:pt x="0" y="0"/>
                </a:moveTo>
                <a:lnTo>
                  <a:pt x="2050476" y="0"/>
                </a:lnTo>
                <a:lnTo>
                  <a:pt x="2050476" y="1549600"/>
                </a:lnTo>
                <a:lnTo>
                  <a:pt x="0" y="154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791" b="-1753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75476" y="74860"/>
            <a:ext cx="14209776" cy="111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4200" b="1" spc="850" dirty="0">
                <a:solidFill>
                  <a:srgbClr val="0033C1"/>
                </a:solidFill>
                <a:latin typeface="Nunito Bold"/>
                <a:ea typeface="Nunito Bold"/>
                <a:cs typeface="Nunito Bold"/>
                <a:sym typeface="Nunito Bold"/>
              </a:rPr>
              <a:t>Key Takeaways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969264"/>
            <a:ext cx="4165600" cy="504870"/>
          </a:xfrm>
          <a:custGeom>
            <a:avLst/>
            <a:gdLst/>
            <a:ahLst/>
            <a:cxnLst/>
            <a:rect l="l" t="t" r="r" b="b"/>
            <a:pathLst>
              <a:path w="3737150" h="359274">
                <a:moveTo>
                  <a:pt x="0" y="0"/>
                </a:moveTo>
                <a:lnTo>
                  <a:pt x="3737150" y="0"/>
                </a:lnTo>
                <a:lnTo>
                  <a:pt x="3737150" y="359275"/>
                </a:lnTo>
                <a:lnTo>
                  <a:pt x="0" y="35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3826" y="7671237"/>
            <a:ext cx="3034174" cy="26157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</TotalTime>
  <Words>62</Words>
  <Application>Microsoft Macintosh PowerPoint</Application>
  <PresentationFormat>Custom</PresentationFormat>
  <Paragraphs>10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Nunito Bold</vt:lpstr>
      <vt:lpstr>Wingdings</vt:lpstr>
      <vt:lpstr>Nunito</vt:lpstr>
      <vt:lpstr>Calibri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3.3 - Handling Elements.pptx</dc:title>
  <dc:creator>Sravani N</dc:creator>
  <cp:lastModifiedBy>Francis Stalin Joseph Selvaraj</cp:lastModifiedBy>
  <cp:revision>169</cp:revision>
  <dcterms:created xsi:type="dcterms:W3CDTF">2006-08-16T00:00:00Z</dcterms:created>
  <dcterms:modified xsi:type="dcterms:W3CDTF">2025-12-15T11:50:53Z</dcterms:modified>
  <dc:identifier>DAGpjvhjKb0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f713d6-defe-42a9-8dbb-fad2fb537e0f_Enabled">
    <vt:lpwstr>true</vt:lpwstr>
  </property>
  <property fmtid="{D5CDD505-2E9C-101B-9397-08002B2CF9AE}" pid="3" name="MSIP_Label_fff713d6-defe-42a9-8dbb-fad2fb537e0f_SetDate">
    <vt:lpwstr>2025-07-24T04:48:51Z</vt:lpwstr>
  </property>
  <property fmtid="{D5CDD505-2E9C-101B-9397-08002B2CF9AE}" pid="4" name="MSIP_Label_fff713d6-defe-42a9-8dbb-fad2fb537e0f_Method">
    <vt:lpwstr>Standard</vt:lpwstr>
  </property>
  <property fmtid="{D5CDD505-2E9C-101B-9397-08002B2CF9AE}" pid="5" name="MSIP_Label_fff713d6-defe-42a9-8dbb-fad2fb537e0f_Name">
    <vt:lpwstr>Internal</vt:lpwstr>
  </property>
  <property fmtid="{D5CDD505-2E9C-101B-9397-08002B2CF9AE}" pid="6" name="MSIP_Label_fff713d6-defe-42a9-8dbb-fad2fb537e0f_SiteId">
    <vt:lpwstr>a4a82227-1602-49e1-a60f-eaba10e03310</vt:lpwstr>
  </property>
  <property fmtid="{D5CDD505-2E9C-101B-9397-08002B2CF9AE}" pid="7" name="MSIP_Label_fff713d6-defe-42a9-8dbb-fad2fb537e0f_ActionId">
    <vt:lpwstr>9e8d5a9a-6ca7-4b1f-ae87-ed2c636f973c</vt:lpwstr>
  </property>
  <property fmtid="{D5CDD505-2E9C-101B-9397-08002B2CF9AE}" pid="8" name="MSIP_Label_fff713d6-defe-42a9-8dbb-fad2fb537e0f_ContentBits">
    <vt:lpwstr>0</vt:lpwstr>
  </property>
  <property fmtid="{D5CDD505-2E9C-101B-9397-08002B2CF9AE}" pid="9" name="MSIP_Label_fff713d6-defe-42a9-8dbb-fad2fb537e0f_Tag">
    <vt:lpwstr>10, 3, 0, 1</vt:lpwstr>
  </property>
</Properties>
</file>